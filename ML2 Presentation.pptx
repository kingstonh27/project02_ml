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Urbanist Medium"/>
      <p:regular r:id="rId15"/>
      <p:bold r:id="rId16"/>
      <p:italic r:id="rId17"/>
      <p:boldItalic r:id="rId18"/>
    </p:embeddedFon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rbanistMedium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SemiBold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71ade79dbbcad9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71ade79dbbcad9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71ade79dbbcad990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h71ade79dbbcad990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71ade79dbbcad990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71ade79dbbcad990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71ade79dbbcad990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h71ade79dbbcad990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71ade79dbbcad990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71ade79dbbcad990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71ade79dbbcad990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h71ade79dbbcad990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71ade79dbbcad990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h71ade79dbbcad990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71ade79dbbcad990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71ade79dbbcad990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71ade79dbbcad990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h71ade79dbbcad990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7.jpg"/><Relationship Id="rId5" Type="http://schemas.openxmlformats.org/officeDocument/2006/relationships/image" Target="../media/image12.jp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Machine Learning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Polynomial Regression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8" name="Google Shape;438;p41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Kingston Hurt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5" name="Google Shape;445;p42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6" name="Google Shape;446;p42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48" name="Google Shape;448;p42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449" name="Google Shape;44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50" name="Google Shape;45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51" name="Google Shape;45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53" name="Google Shape;453;p42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454" name="Google Shape;454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55" name="Google Shape;455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56" name="Google Shape;456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7" name="Google Shape;457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58" name="Google Shape;458;p42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459" name="Google Shape;45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0" name="Google Shape;46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1" name="Google Shape;46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" name="Google Shape;46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3" name="Google Shape;463;p42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464" name="Google Shape;464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5" name="Google Shape;465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6" name="Google Shape;466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" name="Google Shape;467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8" name="Google Shape;468;p42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469" name="Google Shape;46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0" name="Google Shape;47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1" name="Google Shape;47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73" name="Google Shape;473;p4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Algorithm:</a:t>
            </a:r>
            <a:endParaRPr/>
          </a:p>
        </p:txBody>
      </p:sp>
      <p:sp>
        <p:nvSpPr>
          <p:cNvPr id="474" name="Google Shape;474;p42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75" name="Google Shape;475;p42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76" name="Google Shape;476;p42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77" name="Google Shape;477;p42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78" name="Google Shape;478;p42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79" name="Google Shape;479;p42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480" name="Google Shape;480;p42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Error &amp; Loss Function</a:t>
            </a:r>
            <a:endParaRPr/>
          </a:p>
        </p:txBody>
      </p:sp>
      <p:sp>
        <p:nvSpPr>
          <p:cNvPr id="481" name="Google Shape;481;p42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Updating Weights</a:t>
            </a:r>
            <a:endParaRPr/>
          </a:p>
        </p:txBody>
      </p:sp>
      <p:sp>
        <p:nvSpPr>
          <p:cNvPr id="482" name="Google Shape;482;p42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483" name="Google Shape;483;p42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484" name="Google Shape;484;p42"/>
          <p:cNvSpPr/>
          <p:nvPr/>
        </p:nvSpPr>
        <p:spPr>
          <a:xfrm>
            <a:off x="4618950" y="37743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5" name="Google Shape;485;p42"/>
          <p:cNvGrpSpPr/>
          <p:nvPr/>
        </p:nvGrpSpPr>
        <p:grpSpPr>
          <a:xfrm rot="-5400000">
            <a:off x="8603305" y="3976465"/>
            <a:ext cx="204654" cy="204654"/>
            <a:chOff x="259788" y="1923155"/>
            <a:chExt cx="409800" cy="409800"/>
          </a:xfrm>
        </p:grpSpPr>
        <p:sp>
          <p:nvSpPr>
            <p:cNvPr id="486" name="Google Shape;486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7" name="Google Shape;487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8" name="Google Shape;488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9" name="Google Shape;489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90" name="Google Shape;490;p42"/>
          <p:cNvSpPr txBox="1"/>
          <p:nvPr>
            <p:ph idx="8" type="subTitle"/>
          </p:nvPr>
        </p:nvSpPr>
        <p:spPr>
          <a:xfrm>
            <a:off x="4744575" y="393115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91" name="Google Shape;491;p42"/>
          <p:cNvSpPr txBox="1"/>
          <p:nvPr>
            <p:ph idx="17" type="subTitle"/>
          </p:nvPr>
        </p:nvSpPr>
        <p:spPr>
          <a:xfrm>
            <a:off x="5067075" y="393115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Developments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 txBox="1"/>
          <p:nvPr>
            <p:ph type="title"/>
          </p:nvPr>
        </p:nvSpPr>
        <p:spPr>
          <a:xfrm>
            <a:off x="228600" y="290448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497" name="Google Shape;497;p43"/>
          <p:cNvSpPr txBox="1"/>
          <p:nvPr>
            <p:ph idx="1" type="subTitle"/>
          </p:nvPr>
        </p:nvSpPr>
        <p:spPr>
          <a:xfrm>
            <a:off x="4668275" y="2894500"/>
            <a:ext cx="3926400" cy="14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Polynomial Model: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b +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W</a:t>
            </a:r>
            <a:r>
              <a:rPr baseline="-25000" lang="en" sz="1400">
                <a:solidFill>
                  <a:schemeClr val="dk2"/>
                </a:solidFill>
              </a:rPr>
              <a:t>1 </a:t>
            </a:r>
            <a:r>
              <a:rPr lang="en" sz="1400">
                <a:solidFill>
                  <a:schemeClr val="dk2"/>
                </a:solidFill>
              </a:rPr>
              <a:t>/ 10 * x</a:t>
            </a:r>
            <a:r>
              <a:rPr baseline="30000" lang="en" sz="1400">
                <a:solidFill>
                  <a:schemeClr val="dk2"/>
                </a:solidFill>
              </a:rPr>
              <a:t>1</a:t>
            </a:r>
            <a:r>
              <a:rPr lang="en" sz="1400">
                <a:solidFill>
                  <a:schemeClr val="dk2"/>
                </a:solidFill>
              </a:rPr>
              <a:t> +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W</a:t>
            </a:r>
            <a:r>
              <a:rPr baseline="-25000" lang="en" sz="1400">
                <a:solidFill>
                  <a:schemeClr val="dk2"/>
                </a:solidFill>
              </a:rPr>
              <a:t>2 </a:t>
            </a:r>
            <a:r>
              <a:rPr lang="en" sz="1400">
                <a:solidFill>
                  <a:schemeClr val="dk2"/>
                </a:solidFill>
              </a:rPr>
              <a:t>/ 100 * x</a:t>
            </a:r>
            <a:r>
              <a:rPr baseline="30000" lang="en" sz="1400">
                <a:solidFill>
                  <a:schemeClr val="dk2"/>
                </a:solidFill>
              </a:rPr>
              <a:t>2</a:t>
            </a:r>
            <a:r>
              <a:rPr lang="en" sz="1400">
                <a:solidFill>
                  <a:schemeClr val="dk2"/>
                </a:solidFill>
              </a:rPr>
              <a:t> +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</a:rPr>
              <a:t>W</a:t>
            </a:r>
            <a:r>
              <a:rPr baseline="-25000" lang="en" sz="1400">
                <a:solidFill>
                  <a:schemeClr val="dk2"/>
                </a:solidFill>
              </a:rPr>
              <a:t>3</a:t>
            </a:r>
            <a:r>
              <a:rPr lang="en" sz="1400">
                <a:solidFill>
                  <a:schemeClr val="dk2"/>
                </a:solidFill>
              </a:rPr>
              <a:t>/1000 * x</a:t>
            </a:r>
            <a:r>
              <a:rPr baseline="30000" lang="en" sz="1400">
                <a:solidFill>
                  <a:schemeClr val="dk2"/>
                </a:solidFill>
              </a:rPr>
              <a:t>3</a:t>
            </a:r>
            <a:endParaRPr baseline="30000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98" name="Google Shape;498;p43"/>
          <p:cNvGrpSpPr/>
          <p:nvPr/>
        </p:nvGrpSpPr>
        <p:grpSpPr>
          <a:xfrm rot="5400000">
            <a:off x="4384704" y="3042518"/>
            <a:ext cx="228589" cy="228622"/>
            <a:chOff x="1688332" y="4135245"/>
            <a:chExt cx="338700" cy="338700"/>
          </a:xfrm>
        </p:grpSpPr>
        <p:sp>
          <p:nvSpPr>
            <p:cNvPr id="499" name="Google Shape;499;p43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0" name="Google Shape;500;p43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01" name="Google Shape;501;p4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2" name="Google Shape;502;p4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503" name="Google Shape;503;p43" title="Screenshot 2026-10-18 at 10.01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113" y="515473"/>
            <a:ext cx="4514576" cy="172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4"/>
          <p:cNvSpPr txBox="1"/>
          <p:nvPr>
            <p:ph idx="1" type="subTitle"/>
          </p:nvPr>
        </p:nvSpPr>
        <p:spPr>
          <a:xfrm>
            <a:off x="4314775" y="3950687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Squared error loss function</a:t>
            </a:r>
            <a:endParaRPr/>
          </a:p>
        </p:txBody>
      </p:sp>
      <p:sp>
        <p:nvSpPr>
          <p:cNvPr id="509" name="Google Shape;509;p44"/>
          <p:cNvSpPr txBox="1"/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and Loss Function</a:t>
            </a:r>
            <a:endParaRPr/>
          </a:p>
        </p:txBody>
      </p:sp>
      <p:pic>
        <p:nvPicPr>
          <p:cNvPr id="510" name="Google Shape;510;p44" title="Screenshot 2026-10-18 at 10.14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725" y="791675"/>
            <a:ext cx="44005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725" y="1313025"/>
            <a:ext cx="4400550" cy="273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d/dw</a:t>
            </a:r>
            <a:r>
              <a:rPr baseline="-25000" lang="en"/>
              <a:t>x</a:t>
            </a:r>
            <a:r>
              <a:rPr lang="en"/>
              <a:t> Loss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Loss with respect to each weight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</a:t>
            </a:r>
            <a:endParaRPr/>
          </a:p>
        </p:txBody>
      </p:sp>
      <p:sp>
        <p:nvSpPr>
          <p:cNvPr id="517" name="Google Shape;517;p45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Weights</a:t>
            </a:r>
            <a:endParaRPr/>
          </a:p>
        </p:txBody>
      </p:sp>
      <p:pic>
        <p:nvPicPr>
          <p:cNvPr id="518" name="Google Shape;518;p45" title="Screenshot 2026-10-18 at 10.25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025" y="984198"/>
            <a:ext cx="4310025" cy="346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523" name="Google Shape;523;p46"/>
          <p:cNvPicPr preferRelativeResize="0"/>
          <p:nvPr/>
        </p:nvPicPr>
        <p:blipFill rotWithShape="1">
          <a:blip r:embed="rId3">
            <a:alphaModFix/>
          </a:blip>
          <a:srcRect b="50284" l="35228" r="7528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524" name="Google Shape;524;p46"/>
          <p:cNvPicPr preferRelativeResize="0"/>
          <p:nvPr/>
        </p:nvPicPr>
        <p:blipFill rotWithShape="1">
          <a:blip r:embed="rId4">
            <a:alphaModFix/>
          </a:blip>
          <a:srcRect b="2361" l="19958" r="17042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525" name="Google Shape;525;p46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6" name="Google Shape;526;p46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Training</a:t>
            </a:r>
            <a:endParaRPr/>
          </a:p>
        </p:txBody>
      </p:sp>
      <p:sp>
        <p:nvSpPr>
          <p:cNvPr id="527" name="Google Shape;527;p46"/>
          <p:cNvSpPr txBox="1"/>
          <p:nvPr>
            <p:ph idx="1" type="body"/>
          </p:nvPr>
        </p:nvSpPr>
        <p:spPr>
          <a:xfrm>
            <a:off x="228600" y="12978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>
                <a:solidFill>
                  <a:schemeClr val="dk2"/>
                </a:solidFill>
              </a:rPr>
              <a:t>Training loop and end conditions</a:t>
            </a:r>
            <a:endParaRPr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-"/>
            </a:pPr>
            <a:r>
              <a:rPr lang="en">
                <a:solidFill>
                  <a:schemeClr val="dk2"/>
                </a:solidFill>
              </a:rPr>
              <a:t>Find best learning rate function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528" name="Google Shape;528;p46" title="Screenshot 2026-10-20 at 9.45.19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225" y="2683147"/>
            <a:ext cx="4346001" cy="236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6" title="Screenshot 2026-10-20 at 9.46.12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5650" y="190885"/>
            <a:ext cx="4298100" cy="485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6" title="Screenshot 2026-10-20 at 10.09.20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48350" y="822125"/>
            <a:ext cx="2907742" cy="22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35" name="Google Shape;535;p47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7"/>
          <p:cNvSpPr txBox="1"/>
          <p:nvPr>
            <p:ph type="title"/>
          </p:nvPr>
        </p:nvSpPr>
        <p:spPr>
          <a:xfrm>
            <a:off x="184800" y="88800"/>
            <a:ext cx="8574600" cy="62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Prediction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id="537" name="Google Shape;537;p47" title="Screenshot 2026-10-20 at 10.07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00" y="1000625"/>
            <a:ext cx="4671025" cy="34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7" title="Screenshot 2026-10-20 at 10.12.3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0" y="656850"/>
            <a:ext cx="5105399" cy="366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8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Removed symbolic derivative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(2,416x faster)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Dynamic number of terms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UI</a:t>
            </a:r>
            <a:endParaRPr/>
          </a:p>
        </p:txBody>
      </p:sp>
      <p:sp>
        <p:nvSpPr>
          <p:cNvPr id="544" name="Google Shape;544;p48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Developments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*After github upload</a:t>
            </a:r>
            <a:endParaRPr sz="1200"/>
          </a:p>
        </p:txBody>
      </p:sp>
      <p:pic>
        <p:nvPicPr>
          <p:cNvPr id="545" name="Google Shape;545;p48" title="Screenshot 2026-10-18 at 10.23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000" y="1161363"/>
            <a:ext cx="5377400" cy="19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8" title="Screenshot 2026-10-20 at 10.18.1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00" y="3298800"/>
            <a:ext cx="6554624" cy="16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2" name="Google Shape;552;p49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